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57" r:id="rId3"/>
    <p:sldId id="262" r:id="rId4"/>
    <p:sldId id="258" r:id="rId5"/>
    <p:sldId id="259" r:id="rId6"/>
    <p:sldId id="256" r:id="rId7"/>
    <p:sldId id="265" r:id="rId8"/>
    <p:sldId id="264" r:id="rId9"/>
    <p:sldId id="267" r:id="rId10"/>
    <p:sldId id="260" r:id="rId11"/>
    <p:sldId id="261" r:id="rId12"/>
    <p:sldId id="26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728"/>
  </p:normalViewPr>
  <p:slideViewPr>
    <p:cSldViewPr snapToGrid="0">
      <p:cViewPr varScale="1">
        <p:scale>
          <a:sx n="102" d="100"/>
          <a:sy n="102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4044E4-EA21-2D73-59E0-224379501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FFA56B-C7B3-63D2-75AA-3539FA7F3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401E0A-5567-19E0-546B-00206DF7D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3FCDA-BBCF-2348-BDAC-55F083B3AE9A}" type="datetimeFigureOut">
              <a:rPr kumimoji="1" lang="zh-CN" altLang="en-US" smtClean="0"/>
              <a:t>2025/12/27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6ED70C-7FA4-5428-8F5D-A93C56760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3CE20E-7407-BF96-39E4-3230DAB5D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84451-63E0-414F-AC1B-602EE9DF90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4412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2F950-0834-A8B2-D524-85A356B15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AEC038-8AC4-D5FD-F0A8-AAD6DE7AD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E78D93-80C3-6FCA-0BC3-91C81F12F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3FCDA-BBCF-2348-BDAC-55F083B3AE9A}" type="datetimeFigureOut">
              <a:rPr kumimoji="1" lang="zh-CN" altLang="en-US" smtClean="0"/>
              <a:t>2025/12/27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EA7C55-D735-51F8-9DEC-0155D1A38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78F16E-69A6-1809-5960-8E1D1C90F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84451-63E0-414F-AC1B-602EE9DF90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6280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D08159-482F-ABF9-7046-A1BE80A3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D4AB35-6A4F-3C9B-0F15-77CF7605F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C88340-B6C1-F3C4-8EFC-2FFF57E3F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3FCDA-BBCF-2348-BDAC-55F083B3AE9A}" type="datetimeFigureOut">
              <a:rPr kumimoji="1" lang="zh-CN" altLang="en-US" smtClean="0"/>
              <a:t>2025/12/27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B13FDC-A3C3-4169-9039-270B32EC8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C39843-45C6-14D7-FC1B-5C09D303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84451-63E0-414F-AC1B-602EE9DF90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6840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227A94-920C-5AC9-ED12-F881590C0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59251B-CCEA-D41A-8719-F0D92C64D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0F7AE17-6162-9CF2-9646-18AF4BA1D7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5E1059-77F3-3AB4-3C4C-A10C256C1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3FCDA-BBCF-2348-BDAC-55F083B3AE9A}" type="datetimeFigureOut">
              <a:rPr kumimoji="1" lang="zh-CN" altLang="en-US" smtClean="0"/>
              <a:t>2025/12/27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660BEE-A2E3-4A16-3224-300E19588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F30C32-702F-06FD-58B2-E0C4A6C8F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84451-63E0-414F-AC1B-602EE9DF90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5581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66C06-58CD-610D-2F3B-55527D44E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0D8C9E-0F38-CDFF-5AE7-A006F9552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64B2DB-BE8A-FC75-55AA-E7EDCDB94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D4B3204-0CE4-3F74-5267-89A7556A19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9FE0A93-0DD0-1F1D-4302-74423005B2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84BF80D-D823-97B3-31EE-01617AE3E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3FCDA-BBCF-2348-BDAC-55F083B3AE9A}" type="datetimeFigureOut">
              <a:rPr kumimoji="1" lang="zh-CN" altLang="en-US" smtClean="0"/>
              <a:t>2025/12/27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EF2EF38-36F4-B97D-6C45-E6C9F01E8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9F82E0B-5ED8-1050-A0C0-244784C41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84451-63E0-414F-AC1B-602EE9DF90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9671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921311-56FD-E137-F209-8DAA92667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794419E-D407-312B-C58B-FC1E4ED92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3FCDA-BBCF-2348-BDAC-55F083B3AE9A}" type="datetimeFigureOut">
              <a:rPr kumimoji="1" lang="zh-CN" altLang="en-US" smtClean="0"/>
              <a:t>2025/12/27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0D5CE1E-9876-C351-5576-DDD406792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D8D4778-77A8-6820-2652-23E35127E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84451-63E0-414F-AC1B-602EE9DF90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6000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03DA7D5-4FAD-61FD-2770-E95D57585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3FCDA-BBCF-2348-BDAC-55F083B3AE9A}" type="datetimeFigureOut">
              <a:rPr kumimoji="1" lang="zh-CN" altLang="en-US" smtClean="0"/>
              <a:t>2025/12/27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DF68137-9DAB-886F-6A80-D70A3B3EF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2CBEB6-8BE2-427B-84FB-CE3CA8D49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84451-63E0-414F-AC1B-602EE9DF90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9158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183424-9B41-AD45-E2D7-5BDDFEF53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6FB145-5667-3497-57BA-B8F273E36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ED395E-29FC-211F-8F02-E8C9CEFDE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F79215-E961-32C2-53B9-105E0DE8C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3FCDA-BBCF-2348-BDAC-55F083B3AE9A}" type="datetimeFigureOut">
              <a:rPr kumimoji="1" lang="zh-CN" altLang="en-US" smtClean="0"/>
              <a:t>2025/12/27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C0577F-CBA8-2796-56E5-2DF811D1F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0CBE7F-4339-DE58-4B92-551C27585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84451-63E0-414F-AC1B-602EE9DF90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860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56A1C8-27FA-9716-7756-59BC3A51F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5139BE4-E561-87E4-0246-180681F916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EFEA3B-9794-4025-CD58-353D18198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FBAEA2-5F51-B7B1-5AA5-334C494A1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3FCDA-BBCF-2348-BDAC-55F083B3AE9A}" type="datetimeFigureOut">
              <a:rPr kumimoji="1" lang="zh-CN" altLang="en-US" smtClean="0"/>
              <a:t>2025/12/27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3C24BF-A3EF-3B7E-4C52-900313CD0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855C17-0A14-40B4-8D01-9C30D0D98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84451-63E0-414F-AC1B-602EE9DF90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3390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86EE45-D076-ED3D-FEFB-0B3604824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AAD5B8D-69C0-2951-D264-DA524DB40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527ED6-B7EB-78BA-782C-5ED836319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3FCDA-BBCF-2348-BDAC-55F083B3AE9A}" type="datetimeFigureOut">
              <a:rPr kumimoji="1" lang="zh-CN" altLang="en-US" smtClean="0"/>
              <a:t>2025/12/27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B4263D-2601-F775-1ABF-9A30135D3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5EA652-29E2-F704-5B33-401E0945A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84451-63E0-414F-AC1B-602EE9DF90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86094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C4447B4-90D0-0D62-0DC8-551DC771B4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6B9BCB-61D2-3540-AE4E-88BCD59EB5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D9DBC2-50F2-7B0F-AAA0-A165A3AAF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3FCDA-BBCF-2348-BDAC-55F083B3AE9A}" type="datetimeFigureOut">
              <a:rPr kumimoji="1" lang="zh-CN" altLang="en-US" smtClean="0"/>
              <a:t>2025/12/27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C17CCC-D273-E2A8-9707-2F6608E0B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DBFC60-277D-7702-9FA9-82ECC505B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84451-63E0-414F-AC1B-602EE9DF90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0192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1C128A2-E74B-85A8-B64F-CF222E79A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436003-EB50-D430-4BA1-5F4110AB2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076E67-626F-BF2E-B6C3-6B58B336D1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E3FCDA-BBCF-2348-BDAC-55F083B3AE9A}" type="datetimeFigureOut">
              <a:rPr kumimoji="1" lang="zh-CN" altLang="en-US" smtClean="0"/>
              <a:t>2025/12/27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D96F41-A8B5-4A71-FE13-A904ADD088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0E6F97-3310-BBA2-BF0B-3635ACFA2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084451-63E0-414F-AC1B-602EE9DF90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7428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12BCFFA-A974-0D7B-CF1F-EC4BF1132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37" y="1791221"/>
            <a:ext cx="10985326" cy="2192056"/>
          </a:xfrm>
        </p:spPr>
        <p:txBody>
          <a:bodyPr>
            <a:normAutofit/>
          </a:bodyPr>
          <a:lstStyle/>
          <a:p>
            <a:r>
              <a:rPr kumimoji="1" lang="zh-CN" altLang="en-US" sz="4000" b="1" dirty="0"/>
              <a:t>我是如何完成第二届人工智能与创客教育大会</a:t>
            </a:r>
            <a:br>
              <a:rPr kumimoji="1" lang="en-US" altLang="zh-CN" b="1" dirty="0"/>
            </a:br>
            <a:r>
              <a:rPr kumimoji="1" lang="zh-CN" altLang="en-US" sz="5400" b="1" dirty="0"/>
              <a:t>教师工作坊“选课”工作</a:t>
            </a:r>
            <a:endParaRPr lang="zh-CN" altLang="en-US" sz="5400" b="1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20A553B2-1253-AD5E-2026-761D3B57E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72000"/>
            <a:ext cx="9144000" cy="685800"/>
          </a:xfrm>
        </p:spPr>
        <p:txBody>
          <a:bodyPr/>
          <a:lstStyle/>
          <a:p>
            <a:r>
              <a:rPr lang="zh-CN" altLang="en-US" dirty="0"/>
              <a:t>温州科技高级中学 谢作如</a:t>
            </a:r>
          </a:p>
        </p:txBody>
      </p:sp>
    </p:spTree>
    <p:extLst>
      <p:ext uri="{BB962C8B-B14F-4D97-AF65-F5344CB8AC3E}">
        <p14:creationId xmlns:p14="http://schemas.microsoft.com/office/powerpoint/2010/main" val="1137500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08301E-C289-42AD-AA5C-9335DD2C7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人工智能助力“选课”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C023E991-3B67-EE05-2DEF-B55C826937E2}"/>
              </a:ext>
            </a:extLst>
          </p:cNvPr>
          <p:cNvSpPr/>
          <p:nvPr/>
        </p:nvSpPr>
        <p:spPr>
          <a:xfrm>
            <a:off x="513566" y="2815226"/>
            <a:ext cx="2137775" cy="14436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借助飞书共同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制作工作表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B724035-246F-B66D-7246-716A19AC296D}"/>
              </a:ext>
            </a:extLst>
          </p:cNvPr>
          <p:cNvSpPr/>
          <p:nvPr/>
        </p:nvSpPr>
        <p:spPr>
          <a:xfrm>
            <a:off x="3557390" y="2815226"/>
            <a:ext cx="2137775" cy="14436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kumimoji="1"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QuickForm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上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获取数据接口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1355554F-06C7-02A0-1411-6A5F069D2965}"/>
              </a:ext>
            </a:extLst>
          </p:cNvPr>
          <p:cNvSpPr/>
          <p:nvPr/>
        </p:nvSpPr>
        <p:spPr>
          <a:xfrm>
            <a:off x="6601214" y="2815226"/>
            <a:ext cx="2137775" cy="14436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借助提示词生成选课网页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5CB20CEB-903E-21F5-159F-8B0B010D53DD}"/>
              </a:ext>
            </a:extLst>
          </p:cNvPr>
          <p:cNvSpPr/>
          <p:nvPr/>
        </p:nvSpPr>
        <p:spPr>
          <a:xfrm>
            <a:off x="9645038" y="2815226"/>
            <a:ext cx="2137775" cy="14436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导出选课清单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DEA1DFCA-9F9D-5549-F99F-F3D8AD4FE5A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651341" y="3537038"/>
            <a:ext cx="9060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38801089-887E-866E-4576-FC0E2CA61305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695165" y="3537038"/>
            <a:ext cx="9060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60EB3021-5702-7126-92F6-92DC841EBD0C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8738989" y="3537038"/>
            <a:ext cx="9060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969956D0-E080-D0B6-1294-F9AE4BB02090}"/>
              </a:ext>
            </a:extLst>
          </p:cNvPr>
          <p:cNvSpPr txBox="1"/>
          <p:nvPr/>
        </p:nvSpPr>
        <p:spPr>
          <a:xfrm>
            <a:off x="2795388" y="1908749"/>
            <a:ext cx="6273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十多年来，第一次由我一人完成了工作坊的“选课”工作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F99DF4-C3AC-4184-6BB9-A44D24293522}"/>
              </a:ext>
            </a:extLst>
          </p:cNvPr>
          <p:cNvSpPr txBox="1"/>
          <p:nvPr/>
        </p:nvSpPr>
        <p:spPr>
          <a:xfrm>
            <a:off x="6475956" y="4688274"/>
            <a:ext cx="2480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能制作交互网页的大模型基本上都可以用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B84E44-CE5F-D898-2CD1-BAB56668EE31}"/>
              </a:ext>
            </a:extLst>
          </p:cNvPr>
          <p:cNvSpPr txBox="1"/>
          <p:nvPr/>
        </p:nvSpPr>
        <p:spPr>
          <a:xfrm>
            <a:off x="3340272" y="4811385"/>
            <a:ext cx="28079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http://wzkjgz.site/quickform/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03B7F2F-621C-9705-27B4-1A60C3DE7C94}"/>
              </a:ext>
            </a:extLst>
          </p:cNvPr>
          <p:cNvSpPr txBox="1"/>
          <p:nvPr/>
        </p:nvSpPr>
        <p:spPr>
          <a:xfrm>
            <a:off x="513567" y="4795996"/>
            <a:ext cx="21377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第二届人工智能与创客教育大会工作坊安排表</a:t>
            </a:r>
          </a:p>
        </p:txBody>
      </p:sp>
    </p:spTree>
    <p:extLst>
      <p:ext uri="{BB962C8B-B14F-4D97-AF65-F5344CB8AC3E}">
        <p14:creationId xmlns:p14="http://schemas.microsoft.com/office/powerpoint/2010/main" val="1658312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C2528F4-D92E-A3EC-1229-E3737AA90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56" y="1246149"/>
            <a:ext cx="4820906" cy="348393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ABE7C72-B87C-149D-D5AA-F66AAE5E7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757" y="2988117"/>
            <a:ext cx="3707705" cy="27210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3FED1E1-60FA-4505-A0E6-C1BAAD722E83}"/>
              </a:ext>
            </a:extLst>
          </p:cNvPr>
          <p:cNvSpPr txBox="1"/>
          <p:nvPr/>
        </p:nvSpPr>
        <p:spPr>
          <a:xfrm>
            <a:off x="2834534" y="6102720"/>
            <a:ext cx="6522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借助腾讯调查、飞书，协同完成工作表，再生成选课表单</a:t>
            </a:r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60FC0A7F-CEED-6CC9-C144-0048F2F91B20}"/>
              </a:ext>
            </a:extLst>
          </p:cNvPr>
          <p:cNvSpPr/>
          <p:nvPr/>
        </p:nvSpPr>
        <p:spPr>
          <a:xfrm>
            <a:off x="5257982" y="2802698"/>
            <a:ext cx="1039660" cy="12526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F3EB996-DA7D-4D3F-A24C-0B45EFE02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162" y="1267081"/>
            <a:ext cx="5605033" cy="444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444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A62591-32E8-2046-B968-BD86CE327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工具清单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16D5B2-2069-00FA-566C-A3B190186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551429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数据接口：</a:t>
            </a:r>
            <a:r>
              <a:rPr kumimoji="1" lang="en-US" altLang="zh-CN" sz="2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QuickForm</a:t>
            </a:r>
            <a:endParaRPr kumimoji="1"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http://</a:t>
            </a:r>
            <a:r>
              <a:rPr kumimoji="1" lang="en-US" altLang="zh-CN" sz="1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wzkjgz.site</a:t>
            </a:r>
            <a:r>
              <a:rPr kumimoji="1"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en-US" altLang="zh-CN" sz="1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quickform</a:t>
            </a:r>
            <a:r>
              <a:rPr kumimoji="1"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</a:p>
          <a:p>
            <a:pPr>
              <a:lnSpc>
                <a:spcPct val="150000"/>
              </a:lnSpc>
            </a:pP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编程大模型</a:t>
            </a:r>
            <a:endParaRPr kumimoji="1"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扣子空间</a:t>
            </a:r>
            <a:endParaRPr kumimoji="1"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豆包</a:t>
            </a:r>
            <a:endParaRPr kumimoji="1"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deepseek</a:t>
            </a:r>
            <a:endParaRPr kumimoji="1"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kumimoji="1" lang="zh-CN" altLang="en-US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CECF6A0-94EE-809A-95A4-94CA404E8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371" y="1587630"/>
            <a:ext cx="4609833" cy="4351338"/>
          </a:xfrm>
          <a:prstGeom prst="rect">
            <a:avLst/>
          </a:prstGeom>
        </p:spPr>
      </p:pic>
      <p:sp>
        <p:nvSpPr>
          <p:cNvPr id="5" name="圆角矩形 4">
            <a:extLst>
              <a:ext uri="{FF2B5EF4-FFF2-40B4-BE49-F238E27FC236}">
                <a16:creationId xmlns:a16="http://schemas.microsoft.com/office/drawing/2014/main" id="{F6BE782B-FCBE-0488-30E2-DE46AFC677D9}"/>
              </a:ext>
            </a:extLst>
          </p:cNvPr>
          <p:cNvSpPr/>
          <p:nvPr/>
        </p:nvSpPr>
        <p:spPr>
          <a:xfrm>
            <a:off x="1741117" y="5373666"/>
            <a:ext cx="3081403" cy="5653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还有更多工具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……</a:t>
            </a:r>
            <a:endParaRPr kumimoji="1"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9071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AAA260-A32F-B19F-C190-89FC670B5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提示词说明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F362DDD-92CD-AC1A-8F84-856F0B2DEBA4}"/>
              </a:ext>
            </a:extLst>
          </p:cNvPr>
          <p:cNvSpPr txBox="1"/>
          <p:nvPr/>
        </p:nvSpPr>
        <p:spPr>
          <a:xfrm>
            <a:off x="274530" y="2259176"/>
            <a:ext cx="5023978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   请根据这个文档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《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第二届人工智能与创客教育大会工作坊安排表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》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，制作一个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《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第二届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和创客教育大会工作坊意向表（第一场）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》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，网页表单形式。请注意，仅仅列出第一场的工作坊，不要遗漏。</a:t>
            </a:r>
          </a:p>
          <a:p>
            <a:pPr algn="l">
              <a:buNone/>
            </a:pP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   页面先出现“姓名”文本框，然后是工作坊列表。用户只能从中选一个工作坊。列表中有工作坊名称、教室、人数限制、已选人数、主持人。点击“工作坊名称”，以小窗口形式出现相应工作坊的具体介绍；点击主持人名字，则以小窗口形式出现相应工作坊主持人的具体介绍。工作坊、主持人的介绍和人数限制都来自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《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第二届人工智能与创客教育大会工作坊安排表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》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“</a:t>
            </a:r>
            <a:r>
              <a:rPr lang="zh-CN" altLang="en-US" sz="1400" b="1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已选人数”来自“</a:t>
            </a:r>
            <a:r>
              <a:rPr lang="en-US" altLang="zh-CN" sz="1400" b="1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</a:t>
            </a:r>
            <a:r>
              <a:rPr lang="en-US" altLang="zh-CN" sz="1400" b="1" dirty="0" err="1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wzkjgz.site</a:t>
            </a:r>
            <a:r>
              <a:rPr lang="en-US" altLang="zh-CN" sz="1400" b="1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en-US" altLang="zh-CN" sz="1400" b="1" dirty="0" err="1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quickform</a:t>
            </a:r>
            <a:r>
              <a:rPr lang="en-US" altLang="zh-CN" sz="1400" b="1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en-US" altLang="zh-CN" sz="1400" b="1" dirty="0" err="1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api</a:t>
            </a:r>
            <a:r>
              <a:rPr lang="en-US" altLang="zh-CN" sz="1400" b="1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/submit/……/all”</a:t>
            </a:r>
            <a:r>
              <a:rPr lang="zh-CN" altLang="en-US" sz="1400" b="1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，每隔</a:t>
            </a:r>
            <a:r>
              <a:rPr lang="en-US" altLang="zh-CN" sz="1400" b="1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sz="1400" b="1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秒钟更新一次。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数据格式为：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620495B-A089-A06E-DE24-DD79CFCF17E6}"/>
              </a:ext>
            </a:extLst>
          </p:cNvPr>
          <p:cNvSpPr txBox="1"/>
          <p:nvPr/>
        </p:nvSpPr>
        <p:spPr>
          <a:xfrm>
            <a:off x="5913324" y="2479457"/>
            <a:ext cx="5710824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400" b="1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表单的数据要以</a:t>
            </a:r>
            <a:r>
              <a:rPr lang="en-US" altLang="zh-CN" sz="1400" b="1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post</a:t>
            </a:r>
            <a:r>
              <a:rPr lang="zh-CN" altLang="en-US" sz="1400" b="1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方式提交到“</a:t>
            </a:r>
            <a:r>
              <a:rPr lang="en-US" altLang="zh-CN" sz="1400" b="1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</a:t>
            </a:r>
            <a:r>
              <a:rPr lang="en-US" altLang="zh-CN" sz="1400" b="1" dirty="0" err="1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wzkjgz.site</a:t>
            </a:r>
            <a:r>
              <a:rPr lang="en-US" altLang="zh-CN" sz="1400" b="1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en-US" altLang="zh-CN" sz="1400" b="1" dirty="0" err="1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quickform</a:t>
            </a:r>
            <a:r>
              <a:rPr lang="en-US" altLang="zh-CN" sz="1400" b="1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en-US" altLang="zh-CN" sz="1400" b="1" dirty="0" err="1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api</a:t>
            </a:r>
            <a:r>
              <a:rPr lang="en-US" altLang="zh-CN" sz="1400" b="1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/submit/……”</a:t>
            </a:r>
            <a:r>
              <a:rPr lang="zh-CN" altLang="en-US" sz="1400" b="1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提交的数据包含姓名和工作坊名称，如：</a:t>
            </a:r>
          </a:p>
          <a:p>
            <a:pPr algn="l">
              <a:buNone/>
            </a:pP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{\"name\": \"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谢作如 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\" \"workshop\": \"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面向所有人的零基础交互网页编程入门 </a:t>
            </a:r>
            <a:r>
              <a:rPr lang="en-US" altLang="zh-CN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\"}</a:t>
            </a:r>
          </a:p>
          <a:p>
            <a:pPr algn="l">
              <a:buNone/>
            </a:pP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按下“确认意向”的按钮后，先检查</a:t>
            </a:r>
            <a:r>
              <a:rPr lang="zh-CN" altLang="en-US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“</a:t>
            </a:r>
            <a:r>
              <a:rPr lang="en-US" altLang="zh-CN" sz="1400" b="1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</a:t>
            </a:r>
            <a:r>
              <a:rPr lang="en-US" altLang="zh-CN" sz="1400" b="1" dirty="0" err="1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wzkjgz.site</a:t>
            </a:r>
            <a:r>
              <a:rPr lang="en-US" altLang="zh-CN" sz="1400" b="1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en-US" altLang="zh-CN" sz="1400" b="1" dirty="0" err="1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quickform</a:t>
            </a:r>
            <a:r>
              <a:rPr lang="en-US" altLang="zh-CN" sz="1400" b="1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en-US" altLang="zh-CN" sz="1400" b="1" dirty="0" err="1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api</a:t>
            </a:r>
            <a:r>
              <a:rPr lang="en-US" altLang="zh-CN" sz="1400" b="1" dirty="0">
                <a:solidFill>
                  <a:srgbClr val="C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/submit/……/all</a:t>
            </a:r>
            <a:r>
              <a:rPr lang="en-US" altLang="zh-CN" sz="1400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中的数据。如果“姓名”已经存在，则提示“您已经选过了，不能重复选择！”。如果选择的工作坊数量已经超过限制的数量，则提示“该工作坊已满，请重新选择”，同时更新网页中的已选人数。如果不存在这些问题，则正常提交，并显示“工作坊选择成功，请按时参加学习！”。</a:t>
            </a:r>
          </a:p>
          <a:p>
            <a:pPr algn="l">
              <a:buNone/>
            </a:pP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提示消息出现在“确认意向”的按钮的下方，使用醒目的大字。</a:t>
            </a:r>
          </a:p>
          <a:p>
            <a:pPr algn="l">
              <a:buNone/>
            </a:pP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表单的上方，标题和工作坊列表之间有如下提示信息：请根据您的兴趣，选择一个工作坊。选择后不可修改，请谅解。部分工作坊还有其他场次的安排，不用担心。</a:t>
            </a:r>
          </a:p>
          <a:p>
            <a:pPr algn="l">
              <a:buNone/>
            </a:pP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表单的最下方出现版权信息：该表单采用</a:t>
            </a:r>
            <a:r>
              <a:rPr lang="en-US" altLang="zh-CN" sz="14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QuickForm</a:t>
            </a:r>
            <a:r>
              <a:rPr lang="zh-CN" altLang="en-US" sz="14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回收数据，使用（***）生成。“***”为大模型或者应用软件的名称。</a:t>
            </a: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B0DD55E4-4A15-5375-35C7-691C722A4137}"/>
              </a:ext>
            </a:extLst>
          </p:cNvPr>
          <p:cNvCxnSpPr/>
          <p:nvPr/>
        </p:nvCxnSpPr>
        <p:spPr>
          <a:xfrm>
            <a:off x="5486400" y="1590805"/>
            <a:ext cx="0" cy="37828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圆角矩形 9">
            <a:extLst>
              <a:ext uri="{FF2B5EF4-FFF2-40B4-BE49-F238E27FC236}">
                <a16:creationId xmlns:a16="http://schemas.microsoft.com/office/drawing/2014/main" id="{BEC77050-BADA-3047-CD38-133C0A4A73AE}"/>
              </a:ext>
            </a:extLst>
          </p:cNvPr>
          <p:cNvSpPr/>
          <p:nvPr/>
        </p:nvSpPr>
        <p:spPr>
          <a:xfrm>
            <a:off x="1277669" y="5373666"/>
            <a:ext cx="2743190" cy="6012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需要上传工作表</a:t>
            </a:r>
          </a:p>
        </p:txBody>
      </p: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9A6B7AAD-CF53-9E96-64D8-9BB01393BABF}"/>
              </a:ext>
            </a:extLst>
          </p:cNvPr>
          <p:cNvCxnSpPr>
            <a:cxnSpLocks/>
          </p:cNvCxnSpPr>
          <p:nvPr/>
        </p:nvCxnSpPr>
        <p:spPr>
          <a:xfrm flipH="1">
            <a:off x="8793271" y="1979112"/>
            <a:ext cx="613776" cy="651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684FB4E8-4D4B-ADCA-2BB5-BBF76A449B9C}"/>
              </a:ext>
            </a:extLst>
          </p:cNvPr>
          <p:cNvSpPr/>
          <p:nvPr/>
        </p:nvSpPr>
        <p:spPr>
          <a:xfrm>
            <a:off x="8580328" y="1202499"/>
            <a:ext cx="2329829" cy="77661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红色、加粗的地方使用了</a:t>
            </a:r>
            <a:r>
              <a:rPr kumimoji="1"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QuickForm</a:t>
            </a:r>
            <a:r>
              <a:rPr kumimoji="1"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的数据接口</a:t>
            </a:r>
          </a:p>
        </p:txBody>
      </p:sp>
    </p:spTree>
    <p:extLst>
      <p:ext uri="{BB962C8B-B14F-4D97-AF65-F5344CB8AC3E}">
        <p14:creationId xmlns:p14="http://schemas.microsoft.com/office/powerpoint/2010/main" val="3879458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BC798AE-A352-03C3-6D5F-91EA6B30C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911" y="2000250"/>
            <a:ext cx="2857500" cy="28575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897ADB3-587D-BC2C-1879-B7248F00E5EB}"/>
              </a:ext>
            </a:extLst>
          </p:cNvPr>
          <p:cNvSpPr txBox="1"/>
          <p:nvPr/>
        </p:nvSpPr>
        <p:spPr>
          <a:xfrm>
            <a:off x="1553228" y="5148197"/>
            <a:ext cx="1716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第一场工作坊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（扣子空间）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375A14C-8042-FBBF-E75C-27C4F1A8222D}"/>
              </a:ext>
            </a:extLst>
          </p:cNvPr>
          <p:cNvSpPr txBox="1"/>
          <p:nvPr/>
        </p:nvSpPr>
        <p:spPr>
          <a:xfrm>
            <a:off x="3045913" y="971139"/>
            <a:ext cx="6100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第二届人工智能与创客教育大会工作坊意向选择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78D6012-D19C-1E5F-ACB4-60EC6EB2EDF0}"/>
              </a:ext>
            </a:extLst>
          </p:cNvPr>
          <p:cNvSpPr txBox="1"/>
          <p:nvPr/>
        </p:nvSpPr>
        <p:spPr>
          <a:xfrm>
            <a:off x="8958197" y="5148196"/>
            <a:ext cx="1716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第三场工作坊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kumimoji="1" lang="en-US" altLang="zh-CN"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deepseek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97CC460-3BE4-BD6A-A2A3-07D400E60752}"/>
              </a:ext>
            </a:extLst>
          </p:cNvPr>
          <p:cNvSpPr txBox="1"/>
          <p:nvPr/>
        </p:nvSpPr>
        <p:spPr>
          <a:xfrm>
            <a:off x="5237967" y="5148195"/>
            <a:ext cx="1716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第二场工作坊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（扣子空间）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32C162D-6B52-8B54-A3E6-07B3F959A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8741" y="2000250"/>
            <a:ext cx="2857500" cy="28575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3227B1CE-8FDB-97F3-4B71-16B71315A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0" y="2000250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64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F66A59-3A54-06CA-3A4D-DC3CABDD4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AI</a:t>
            </a:r>
            <a:r>
              <a:rPr kumimoji="1" lang="zh-CN" altLang="en-US" dirty="0"/>
              <a:t>编程产品能力比较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5DE311-BCF0-D1C2-94DE-B662F7EB6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45701" cy="2771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以生成网页的能力为例</a:t>
            </a:r>
            <a:endParaRPr kumimoji="1"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扣子空间最稳定，是一个完整的开发过程。可以直接分配一个临时域名，在互联网发布。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deepseek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生成的页面很漂亮，可惜不能直接以网址形式分享。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豆包能直接以网址分享，但是微信会拦截。生成的网页需要二次纠正。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5649CCD-C39A-070D-0F42-63846A168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94" y="1690688"/>
            <a:ext cx="6162272" cy="404504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0E03112-5F79-622D-361E-371DE65B9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356" y="2646922"/>
            <a:ext cx="4801644" cy="403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636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B414DD-07D9-82A3-FD34-AB20B3202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数据如何分析？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637FBA8-95A9-F3D7-67C1-17D0872FE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977" y="3328651"/>
            <a:ext cx="4082913" cy="292363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085DE22-74DC-6F79-1EE1-2690C0B0406E}"/>
              </a:ext>
            </a:extLst>
          </p:cNvPr>
          <p:cNvSpPr txBox="1"/>
          <p:nvPr/>
        </p:nvSpPr>
        <p:spPr>
          <a:xfrm>
            <a:off x="764659" y="1929007"/>
            <a:ext cx="320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直接导出；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导出后大模型分析整理；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直接输出分析报告。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91E53FA-F53A-292E-341B-5EF7F9984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890" y="2492678"/>
            <a:ext cx="5191110" cy="387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710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8AC228C-FAD1-3119-4499-7232A6999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980"/>
            <a:ext cx="6843112" cy="399580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00895FD-D0CF-C6D5-E87C-695F17F6A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778342"/>
            <a:ext cx="7772400" cy="507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31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4A1A4B-1E5E-7C6B-BBFD-07563A052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关于</a:t>
            </a:r>
            <a:r>
              <a:rPr kumimoji="1" lang="en-US" altLang="zh-CN" dirty="0" err="1"/>
              <a:t>QuickForm</a:t>
            </a:r>
            <a:r>
              <a:rPr kumimoji="1" lang="zh-CN" altLang="en-US" dirty="0"/>
              <a:t>的应用说明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173452-88A8-F497-8042-8C886858E324}"/>
              </a:ext>
            </a:extLst>
          </p:cNvPr>
          <p:cNvSpPr txBox="1"/>
          <p:nvPr/>
        </p:nvSpPr>
        <p:spPr>
          <a:xfrm>
            <a:off x="1878903" y="2218905"/>
            <a:ext cx="87932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kumimoji="1" lang="en-US" altLang="zh-CN" sz="2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QuickForm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是轻量级的开源智能表单收集系统，理念为“拿来就用”“用完即走”，适用于临时的教学数据收集工作，不宜用来做对安全有要求的、长期的数据收集工作。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71F4F1-5132-3027-B52A-753FA6228912}"/>
              </a:ext>
            </a:extLst>
          </p:cNvPr>
          <p:cNvSpPr txBox="1"/>
          <p:nvPr/>
        </p:nvSpPr>
        <p:spPr>
          <a:xfrm>
            <a:off x="1991639" y="3971401"/>
            <a:ext cx="19791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常规教学应用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课前调查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课中练习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课后反馈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……</a:t>
            </a:r>
            <a:endParaRPr kumimoji="1"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DE48597-3387-A563-727B-DE4FF86BA15D}"/>
              </a:ext>
            </a:extLst>
          </p:cNvPr>
          <p:cNvSpPr txBox="1"/>
          <p:nvPr/>
        </p:nvSpPr>
        <p:spPr>
          <a:xfrm>
            <a:off x="4859316" y="3971401"/>
            <a:ext cx="23027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创意教学应用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游戏化学习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教学演示动画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仿真实验操作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……</a:t>
            </a:r>
            <a:endParaRPr kumimoji="1"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44E7E22-97F4-ED94-271C-DF081F90718B}"/>
              </a:ext>
            </a:extLst>
          </p:cNvPr>
          <p:cNvSpPr txBox="1"/>
          <p:nvPr/>
        </p:nvSpPr>
        <p:spPr>
          <a:xfrm>
            <a:off x="7950374" y="3971401"/>
            <a:ext cx="25208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跨学科项目应用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科技教育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综合实践活动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人工智能的数据集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……</a:t>
            </a:r>
            <a:endParaRPr kumimoji="1"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4370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8B14B9-6101-DD5B-82C1-E60E614FA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QuickForm</a:t>
            </a:r>
            <a:r>
              <a:rPr kumimoji="1" lang="zh-CN" altLang="en-US" dirty="0"/>
              <a:t>的版本说明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4DD2519-53AE-A472-532B-5CB254AF81E7}"/>
              </a:ext>
            </a:extLst>
          </p:cNvPr>
          <p:cNvSpPr txBox="1"/>
          <p:nvPr/>
        </p:nvSpPr>
        <p:spPr>
          <a:xfrm>
            <a:off x="1640911" y="2003892"/>
            <a:ext cx="3632546" cy="29627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教师版</a:t>
            </a:r>
            <a:endParaRPr kumimoji="1" lang="en-US" altLang="zh-CN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功能特点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单用户，运行在本地电脑；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如何使用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2025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12.28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正式开源；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开源协议为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MIT+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CC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鼓励自行修改。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AAF7171-2896-A05A-5963-FCFD93140BE4}"/>
              </a:ext>
            </a:extLst>
          </p:cNvPr>
          <p:cNvSpPr txBox="1"/>
          <p:nvPr/>
        </p:nvSpPr>
        <p:spPr>
          <a:xfrm>
            <a:off x="6771363" y="2003892"/>
            <a:ext cx="4582437" cy="2993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校园版</a:t>
            </a:r>
            <a:endParaRPr kumimoji="1" lang="en-US" altLang="zh-CN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功能特点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多用户，运行在服务器上；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带社区功能，便于交流；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如何使用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代码免费，需要签署合作协议后使用；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需要开展全员培训，定期贡献教学案例；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等功能稳定后，择时开源。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FC92A4A3-C491-8204-26AC-D970DF6BF95D}"/>
              </a:ext>
            </a:extLst>
          </p:cNvPr>
          <p:cNvCxnSpPr/>
          <p:nvPr/>
        </p:nvCxnSpPr>
        <p:spPr>
          <a:xfrm>
            <a:off x="5536504" y="2279737"/>
            <a:ext cx="0" cy="2717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930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304A177-6ACC-99A8-9829-54E48E36891A}"/>
              </a:ext>
            </a:extLst>
          </p:cNvPr>
          <p:cNvSpPr txBox="1"/>
          <p:nvPr/>
        </p:nvSpPr>
        <p:spPr>
          <a:xfrm>
            <a:off x="2167002" y="2844225"/>
            <a:ext cx="82421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QuickForm</a:t>
            </a:r>
            <a:r>
              <a:rPr kumimoji="1" lang="zh-CN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，让交互网页不再是数据孤岛！</a:t>
            </a:r>
          </a:p>
        </p:txBody>
      </p:sp>
    </p:spTree>
    <p:extLst>
      <p:ext uri="{BB962C8B-B14F-4D97-AF65-F5344CB8AC3E}">
        <p14:creationId xmlns:p14="http://schemas.microsoft.com/office/powerpoint/2010/main" val="731539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921</Words>
  <Application>Microsoft Macintosh PowerPoint</Application>
  <PresentationFormat>宽屏</PresentationFormat>
  <Paragraphs>85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等线 Light</vt:lpstr>
      <vt:lpstr>Microsoft YaHei</vt:lpstr>
      <vt:lpstr>Arial</vt:lpstr>
      <vt:lpstr>Office 主题​​</vt:lpstr>
      <vt:lpstr>我是如何完成第二届人工智能与创客教育大会 教师工作坊“选课”工作</vt:lpstr>
      <vt:lpstr>人工智能助力“选课”</vt:lpstr>
      <vt:lpstr>PowerPoint 演示文稿</vt:lpstr>
      <vt:lpstr>工具清单</vt:lpstr>
      <vt:lpstr>提示词说明</vt:lpstr>
      <vt:lpstr>PowerPoint 演示文稿</vt:lpstr>
      <vt:lpstr>AI编程产品能力比较</vt:lpstr>
      <vt:lpstr>数据如何分析？</vt:lpstr>
      <vt:lpstr>PowerPoint 演示文稿</vt:lpstr>
      <vt:lpstr>关于QuickForm的应用说明</vt:lpstr>
      <vt:lpstr>QuickForm的版本说明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Espgdo</dc:creator>
  <cp:lastModifiedBy>Espgdo</cp:lastModifiedBy>
  <cp:revision>52</cp:revision>
  <dcterms:created xsi:type="dcterms:W3CDTF">2025-12-27T01:06:48Z</dcterms:created>
  <dcterms:modified xsi:type="dcterms:W3CDTF">2025-12-27T10:40:53Z</dcterms:modified>
</cp:coreProperties>
</file>